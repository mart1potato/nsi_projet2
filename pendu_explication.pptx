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E94560"/>
                </a:solidFill>
                <a:latin typeface="Consolas"/>
              </a:rPr>
              <a:t>◈  LE PENDU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6C6C8A"/>
                </a:solidFill>
                <a:latin typeface="Consolas"/>
              </a:rPr>
              <a:t>Jeu Tkinter en Python — Explication du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749039"/>
            <a:ext cx="795528" cy="320040"/>
          </a:xfrm>
          <a:prstGeom prst="rect">
            <a:avLst/>
          </a:prstGeom>
          <a:solidFill>
            <a:srgbClr val="4E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Python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3749039"/>
            <a:ext cx="882396" cy="3200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Tkinter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3749039"/>
            <a:ext cx="534924" cy="3200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POO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297680"/>
            <a:ext cx="7315200" cy="27432"/>
          </a:xfrm>
          <a:prstGeom prst="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480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C6C8A"/>
                </a:solidFill>
                <a:latin typeface="Consolas"/>
              </a:rPr>
              <a:t>2 fichiers  •  1 classe  •  10 méthodes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731520"/>
            <a:ext cx="3017520" cy="5029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0" y="1097280"/>
            <a:ext cx="26517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6C6C8A"/>
                </a:solidFill>
                <a:latin typeface="Consolas"/>
              </a:rPr>
              <a:t>  ┌───┐</a:t>
            </a:r>
          </a:p>
          <a:p>
            <a:r>
              <a:rPr sz="2200">
                <a:solidFill>
                  <a:srgbClr val="6C6C8A"/>
                </a:solidFill>
                <a:latin typeface="Consolas"/>
              </a:rPr>
              <a:t>  │   │</a:t>
            </a:r>
          </a:p>
          <a:p>
            <a:r>
              <a:rPr sz="2200">
                <a:solidFill>
                  <a:srgbClr val="6C6C8A"/>
                </a:solidFill>
                <a:latin typeface="Consolas"/>
              </a:rPr>
              <a:t>  │   ☻</a:t>
            </a:r>
          </a:p>
          <a:p>
            <a:r>
              <a:rPr sz="2200">
                <a:solidFill>
                  <a:srgbClr val="6C6C8A"/>
                </a:solidFill>
                <a:latin typeface="Consolas"/>
              </a:rPr>
              <a:t>  │  /|\</a:t>
            </a:r>
          </a:p>
          <a:p>
            <a:r>
              <a:rPr sz="2200">
                <a:solidFill>
                  <a:srgbClr val="6C6C8A"/>
                </a:solidFill>
                <a:latin typeface="Consolas"/>
              </a:rPr>
              <a:t>  │  / \</a:t>
            </a:r>
          </a:p>
          <a:p>
            <a:r>
              <a:rPr sz="2200">
                <a:solidFill>
                  <a:srgbClr val="6C6C8A"/>
                </a:solidFill>
                <a:latin typeface="Consolas"/>
              </a:rPr>
              <a:t>  │</a:t>
            </a:r>
          </a:p>
          <a:p>
            <a:r>
              <a:rPr sz="2200">
                <a:solidFill>
                  <a:srgbClr val="6C6C8A"/>
                </a:solidFill>
                <a:latin typeface="Consolas"/>
              </a:rPr>
              <a:t>──┴──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onsolas"/>
              </a:rPr>
              <a:t>Architecture du projet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241280" y="228600"/>
            <a:ext cx="1143000" cy="3200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2 fichiers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029200" cy="4754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029200" cy="4754880"/>
          </a:xfrm>
          <a:prstGeom prst="rect">
            <a:avLst/>
          </a:prstGeom>
          <a:solidFill>
            <a:srgbClr val="1A1A2E"/>
          </a:solidFill>
          <a:ln w="25400">
            <a:solidFill>
              <a:srgbClr val="4EC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ECCA3"/>
                </a:solidFill>
                <a:latin typeface="Consolas"/>
              </a:rPr>
              <a:t>functions.py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C6C8A"/>
                </a:solidFill>
                <a:latin typeface="Consolas"/>
              </a:rPr>
              <a:t>Logique métier du jeu
(sans interface graphique)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514600"/>
            <a:ext cx="4572000" cy="685800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551176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  <a:latin typeface="Consolas"/>
              </a:rPr>
              <a:t>choix_mot(list)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6207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6C8A"/>
                </a:solidFill>
                <a:latin typeface="Consolas"/>
              </a:rPr>
              <a:t>Pioche un mot au hasard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319272"/>
            <a:ext cx="4572000" cy="685800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35584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  <a:latin typeface="Consolas"/>
              </a:rPr>
              <a:t>cacher_mot(mot)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6674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6C8A"/>
                </a:solidFill>
                <a:latin typeface="Consolas"/>
              </a:rPr>
              <a:t>Retourne ['*','*',...]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123944"/>
            <a:ext cx="4572000" cy="685800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1605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  <a:latin typeface="Consolas"/>
              </a:rPr>
              <a:t>chercher_lettre(l, mot)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471416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6C8A"/>
                </a:solidFill>
                <a:latin typeface="Consolas"/>
              </a:rPr>
              <a:t>Retourne les indices trouvés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928616"/>
            <a:ext cx="4572000" cy="685800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965192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  <a:latin typeface="Consolas"/>
              </a:rPr>
              <a:t>remplacer_lettre(cache, idx, 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27608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6C8A"/>
                </a:solidFill>
                <a:latin typeface="Consolas"/>
              </a:rPr>
              <a:t>Révèle la lettre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32918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94560"/>
                </a:solidFill>
                <a:latin typeface="Consola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38404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6C8A"/>
                </a:solidFill>
                <a:latin typeface="Consolas"/>
              </a:rPr>
              <a:t>importe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1280160"/>
            <a:ext cx="5120640" cy="4754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0" y="1280160"/>
            <a:ext cx="5120640" cy="4754880"/>
          </a:xfrm>
          <a:prstGeom prst="rect">
            <a:avLst/>
          </a:prstGeom>
          <a:solidFill>
            <a:srgbClr val="1A1A2E"/>
          </a:solidFill>
          <a:ln w="254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94560"/>
                </a:solidFill>
                <a:latin typeface="Consolas"/>
              </a:rPr>
              <a:t>main.py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187451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C6C8A"/>
                </a:solidFill>
                <a:latin typeface="Consolas"/>
              </a:rPr>
              <a:t>Interface graphique Tkinter
+ logique de jeu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5146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EAEA"/>
                </a:solidFill>
                <a:latin typeface="Consolas"/>
              </a:rPr>
              <a:t>▸  __init__()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008376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EAEA"/>
                </a:solidFill>
                <a:latin typeface="Consolas"/>
              </a:rPr>
              <a:t>▸  _build_ui()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5021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EAEA"/>
                </a:solidFill>
                <a:latin typeface="Consolas"/>
              </a:rPr>
              <a:t>▸  _dessiner_etape()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399592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EAEA"/>
                </a:solidFill>
                <a:latin typeface="Consolas"/>
              </a:rPr>
              <a:t>▸  _nouvelle_partie()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4489704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EAEA"/>
                </a:solidFill>
                <a:latin typeface="Consolas"/>
              </a:rPr>
              <a:t>▸  _proposer()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9834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EAEA"/>
                </a:solidFill>
                <a:latin typeface="Consolas"/>
              </a:rPr>
              <a:t>▸  _actualiser_affichage()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5477256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EAEA"/>
                </a:solidFill>
                <a:latin typeface="Consolas"/>
              </a:rPr>
              <a:t>▸  _verifier_fin()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onsolas"/>
              </a:rPr>
              <a:t>functions.py — Les 4 fonctions clés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2651760" cy="5394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2651760" cy="5394960"/>
          </a:xfrm>
          <a:prstGeom prst="rect">
            <a:avLst/>
          </a:prstGeom>
          <a:solidFill>
            <a:srgbClr val="1A1A2E"/>
          </a:solidFill>
          <a:ln w="25400">
            <a:solidFill>
              <a:srgbClr val="4EC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2651760" cy="73152"/>
          </a:xfrm>
          <a:prstGeom prst="rect">
            <a:avLst/>
          </a:prstGeom>
          <a:solidFill>
            <a:srgbClr val="4E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CCA3"/>
                </a:solidFill>
                <a:latin typeface="Consolas"/>
              </a:rPr>
              <a:t>choix_mot(list)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37360"/>
            <a:ext cx="2468880" cy="813816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219456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import random</a:t>
            </a:r>
          </a:p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return random.choice(list)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88336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6C8A"/>
                </a:solidFill>
                <a:latin typeface="Consolas"/>
              </a:rPr>
              <a:t>Choisit un mot aléatoirement
dans la liste LISTE_MOTS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097280"/>
            <a:ext cx="2651760" cy="5394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097280"/>
            <a:ext cx="2651760" cy="5394960"/>
          </a:xfrm>
          <a:prstGeom prst="rect">
            <a:avLst/>
          </a:prstGeom>
          <a:solidFill>
            <a:srgbClr val="1A1A2E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097280"/>
            <a:ext cx="265176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2344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  <a:latin typeface="Consolas"/>
              </a:rPr>
              <a:t>cacher_mot(mot)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1737360"/>
            <a:ext cx="2468880" cy="1106424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1828800"/>
            <a:ext cx="2194560" cy="923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for car in mot:</a:t>
            </a:r>
          </a:p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    mot_cache.append('*')</a:t>
            </a:r>
          </a:p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return mot_cache  # liste 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980944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6C8A"/>
                </a:solidFill>
                <a:latin typeface="Consolas"/>
              </a:rPr>
              <a:t>Retourne une liste de '*'
Une étoile par lettre
→ liste car elle est modifiable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097280"/>
            <a:ext cx="2651760" cy="5394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1097280"/>
            <a:ext cx="2651760" cy="5394960"/>
          </a:xfrm>
          <a:prstGeom prst="rect">
            <a:avLst/>
          </a:prstGeom>
          <a:solidFill>
            <a:srgbClr val="1A1A2E"/>
          </a:solidFill>
          <a:ln w="254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1097280"/>
            <a:ext cx="2651760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2344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Consolas"/>
              </a:rPr>
              <a:t>chercher_lettre(l, mot)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737360"/>
            <a:ext cx="2468880" cy="1399032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1828800"/>
            <a:ext cx="2194560" cy="1216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for i in range(len(mot)):</a:t>
            </a:r>
          </a:p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    if mot[i] == lettre:</a:t>
            </a:r>
          </a:p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        indices.append(i)</a:t>
            </a:r>
          </a:p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return tuple(indices)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273551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6C8A"/>
                </a:solidFill>
                <a:latin typeface="Consolas"/>
              </a:rPr>
              <a:t>Retourne un tuple d'indices
où la lettre apparaît
→ () si absente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26880" y="1097280"/>
            <a:ext cx="2651760" cy="5394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26880" y="1097280"/>
            <a:ext cx="2651760" cy="5394960"/>
          </a:xfrm>
          <a:prstGeom prst="rect">
            <a:avLst/>
          </a:prstGeom>
          <a:solidFill>
            <a:srgbClr val="1A1A2E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26880" y="1097280"/>
            <a:ext cx="265176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19" y="12344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onsolas"/>
              </a:rPr>
              <a:t>remplacer_lettre(...)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18319" y="1737360"/>
            <a:ext cx="2468880" cy="1106424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55480" y="1828800"/>
            <a:ext cx="2194560" cy="923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for i in tuple_indices:</a:t>
            </a:r>
          </a:p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    mot_cache[i] = lettre</a:t>
            </a:r>
          </a:p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return mot_cache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19" y="2980944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6C8A"/>
                </a:solidFill>
                <a:latin typeface="Consolas"/>
              </a:rPr>
              <a:t>Révèle la lettre aux bons
endroits dans mot_cache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onsolas"/>
              </a:rPr>
              <a:t>La classe PenduApp — Structure 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303520" cy="5394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303520" cy="5394960"/>
          </a:xfrm>
          <a:prstGeom prst="rect">
            <a:avLst/>
          </a:prstGeom>
          <a:solidFill>
            <a:srgbClr val="1A1A2E"/>
          </a:solidFill>
          <a:ln w="254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94560"/>
                </a:solidFill>
                <a:latin typeface="Consolas"/>
              </a:rPr>
              <a:t>class PenduApp(tk.Tk):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276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C6C8A"/>
                </a:solidFill>
                <a:latin typeface="Consolas"/>
              </a:rPr>
              <a:t>Hérite de tk.Tk → EST la fenêtre principale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03120"/>
            <a:ext cx="5303520" cy="274320"/>
          </a:xfrm>
          <a:prstGeom prst="rect">
            <a:avLst/>
          </a:prstGeom>
          <a:solidFill>
            <a:srgbClr val="15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6C8A"/>
                </a:solidFill>
                <a:latin typeface="Consolas"/>
              </a:rPr>
              <a:t>  Attributs d'état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68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A623"/>
                </a:solidFill>
                <a:latin typeface="Consolas"/>
              </a:rPr>
              <a:t>self.mot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14600" y="2505456"/>
            <a:ext cx="534924" cy="320040"/>
          </a:xfrm>
          <a:prstGeom prst="rect">
            <a:avLst/>
          </a:prstGeom>
          <a:solidFill>
            <a:srgbClr val="2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str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4688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6C8A"/>
                </a:solidFill>
                <a:latin typeface="Consolas"/>
              </a:rPr>
              <a:t>Le mot à deviner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077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A623"/>
                </a:solidFill>
                <a:latin typeface="Consolas"/>
              </a:rPr>
              <a:t>self.mot_cache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14600" y="2944368"/>
            <a:ext cx="621792" cy="320040"/>
          </a:xfrm>
          <a:prstGeom prst="rect">
            <a:avLst/>
          </a:prstGeom>
          <a:solidFill>
            <a:srgbClr val="2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9077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6C8A"/>
                </a:solidFill>
                <a:latin typeface="Consolas"/>
              </a:rPr>
              <a:t>['*','*',...] révélation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34670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A623"/>
                </a:solidFill>
                <a:latin typeface="Consolas"/>
              </a:rPr>
              <a:t>self.essais_restants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14600" y="3383280"/>
            <a:ext cx="534924" cy="320040"/>
          </a:xfrm>
          <a:prstGeom prst="rect">
            <a:avLst/>
          </a:prstGeom>
          <a:solidFill>
            <a:srgbClr val="2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34670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6C8A"/>
                </a:solidFill>
                <a:latin typeface="Consolas"/>
              </a:rPr>
              <a:t>Essais restants (max 10)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7856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A623"/>
                </a:solidFill>
                <a:latin typeface="Consolas"/>
              </a:rPr>
              <a:t>self.lettres_proposees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14600" y="3822192"/>
            <a:ext cx="621792" cy="320040"/>
          </a:xfrm>
          <a:prstGeom prst="rect">
            <a:avLst/>
          </a:prstGeom>
          <a:solidFill>
            <a:srgbClr val="2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list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78561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6C8A"/>
                </a:solidFill>
                <a:latin typeface="Consolas"/>
              </a:rPr>
              <a:t>Historique des lettres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245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A623"/>
                </a:solidFill>
                <a:latin typeface="Consolas"/>
              </a:rPr>
              <a:t>self.partie_finie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14600" y="4261104"/>
            <a:ext cx="621792" cy="320040"/>
          </a:xfrm>
          <a:prstGeom prst="rect">
            <a:avLst/>
          </a:prstGeom>
          <a:solidFill>
            <a:srgbClr val="2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bool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2245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6C8A"/>
                </a:solidFill>
                <a:latin typeface="Consolas"/>
              </a:rPr>
              <a:t>Drapeau fin de partie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754880"/>
            <a:ext cx="5303520" cy="274320"/>
          </a:xfrm>
          <a:prstGeom prst="rect">
            <a:avLst/>
          </a:prstGeom>
          <a:solidFill>
            <a:srgbClr val="15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47731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6C8A"/>
                </a:solidFill>
                <a:latin typeface="Consolas"/>
              </a:rPr>
              <a:t>  Méthodes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1206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ECCA3"/>
                </a:solidFill>
                <a:latin typeface="Consolas"/>
              </a:rPr>
              <a:t>__init__  •  _build_ui  •  _dessiner_etape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5321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ECCA3"/>
                </a:solidFill>
                <a:latin typeface="Consolas"/>
              </a:rPr>
              <a:t>_nouvelle_partie  •  _proposer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9436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ECCA3"/>
                </a:solidFill>
                <a:latin typeface="Consolas"/>
              </a:rPr>
              <a:t>_actualiser_affichage  •  _verifier_fin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1097280"/>
            <a:ext cx="5943600" cy="12344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0" y="1097280"/>
            <a:ext cx="5943600" cy="1234440"/>
          </a:xfrm>
          <a:prstGeom prst="rect">
            <a:avLst/>
          </a:prstGeom>
          <a:solidFill>
            <a:srgbClr val="1A1A2E"/>
          </a:solidFill>
          <a:ln w="1905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43600" y="1097280"/>
            <a:ext cx="64008" cy="12344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0" y="11704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4560"/>
                </a:solidFill>
                <a:latin typeface="Consolas"/>
              </a:rPr>
              <a:t>Héritage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1554480"/>
            <a:ext cx="5577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6C8A"/>
                </a:solidFill>
                <a:latin typeface="Consolas"/>
              </a:rPr>
              <a:t>PenduApp hérite de tk.Tk, elle EST la fenêtre. Pas besoin de créer une fenêtre séparée.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2487168"/>
            <a:ext cx="5943600" cy="12344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43600" y="2487168"/>
            <a:ext cx="5943600" cy="1234440"/>
          </a:xfrm>
          <a:prstGeom prst="rect">
            <a:avLst/>
          </a:prstGeom>
          <a:solidFill>
            <a:srgbClr val="1A1A2E"/>
          </a:solidFill>
          <a:ln w="19050">
            <a:solidFill>
              <a:srgbClr val="4EC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43600" y="2487168"/>
            <a:ext cx="64008" cy="1234440"/>
          </a:xfrm>
          <a:prstGeom prst="rect">
            <a:avLst/>
          </a:prstGeom>
          <a:solidFill>
            <a:srgbClr val="4E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2560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ECCA3"/>
                </a:solidFill>
                <a:latin typeface="Consolas"/>
              </a:rPr>
              <a:t>self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2944368"/>
            <a:ext cx="5577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6C8A"/>
                </a:solidFill>
                <a:latin typeface="Consolas"/>
              </a:rPr>
              <a:t>self désigne l'instance en cours. self.mot, self.canvas etc. sont des attributs accessibles partout dans la classe.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0" y="3877056"/>
            <a:ext cx="5943600" cy="12344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43600" y="3877056"/>
            <a:ext cx="5943600" cy="1234440"/>
          </a:xfrm>
          <a:prstGeom prst="rect">
            <a:avLst/>
          </a:prstGeom>
          <a:solidFill>
            <a:srgbClr val="1A1A2E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943600" y="3877056"/>
            <a:ext cx="64008" cy="1234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80" y="395020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  <a:latin typeface="Consolas"/>
              </a:rPr>
              <a:t>__init__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4334256"/>
            <a:ext cx="5577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6C8A"/>
                </a:solidFill>
                <a:latin typeface="Consolas"/>
              </a:rPr>
              <a:t>Appelé automatiquement à la création. super().__init__() initialise d'abord la fenêtre parente Tkinter.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0" y="5266944"/>
            <a:ext cx="5943600" cy="12344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943600" y="5266944"/>
            <a:ext cx="5943600" cy="1234440"/>
          </a:xfrm>
          <a:prstGeom prst="rect">
            <a:avLst/>
          </a:prstGeom>
          <a:solidFill>
            <a:srgbClr val="1A1A2E"/>
          </a:solidFill>
          <a:ln w="19050">
            <a:solidFill>
              <a:srgbClr val="6C6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943600" y="5266944"/>
            <a:ext cx="64008" cy="1234440"/>
          </a:xfrm>
          <a:prstGeom prst="rect">
            <a:avLst/>
          </a:prstGeom>
          <a:solidFill>
            <a:srgbClr val="6C6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26480" y="534009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6C8A"/>
                </a:solidFill>
                <a:latin typeface="Consolas"/>
              </a:rPr>
              <a:t>Separation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26480" y="5724144"/>
            <a:ext cx="5577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6C8A"/>
                </a:solidFill>
                <a:latin typeface="Consolas"/>
              </a:rPr>
              <a:t>functions.py ne connaît pas Tkinter. main.py appelle ses fonctions. = bonne pratique de séparation.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onsolas"/>
              </a:rPr>
              <a:t>ETAPES_DESSIN — Le dessin progressif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6858000" cy="411480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0"/>
            <a:ext cx="658368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ETAPES_DESSIN = [</a:t>
            </a:r>
          </a:p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  ('socle',  lambda c: c.create_line(20,190,140,190,...)),</a:t>
            </a:r>
          </a:p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  ('poteau', lambda c: c.create_line(60,190, 60, 20,...)),</a:t>
            </a:r>
          </a:p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  ('poutre', lambda c: c.create_line(60, 20,150, 20,...)),</a:t>
            </a:r>
          </a:p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  ('corde',  lambda c: c.create_line(150,20,150, 50,...)),</a:t>
            </a:r>
          </a:p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  ('tête',   lambda c: c.create_oval(130,50,170, 90,...)),</a:t>
            </a:r>
          </a:p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  ('corps',  lambda c: c.create_line(150,90,150,145,...)),</a:t>
            </a:r>
          </a:p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  ('bras_g', lambda c: c.create_line(...)),</a:t>
            </a:r>
          </a:p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  ('bras_d', lambda c: c.create_line(...)),</a:t>
            </a:r>
          </a:p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  ('jambe_g',lambda c: c.create_line(...)),</a:t>
            </a:r>
          </a:p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  ('jambe_d',lambda c: c.create_line(...))</a:t>
            </a:r>
          </a:p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]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5349240"/>
            <a:ext cx="6858000" cy="128016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5440679"/>
            <a:ext cx="6583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def _dessiner_etape(self, numero_etape):</a:t>
            </a:r>
          </a:p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    _nom, fn = ETAPES_DESSIN[numero_etape]</a:t>
            </a:r>
          </a:p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    fn(self.canvas)  # appelle la lambda !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1097280"/>
            <a:ext cx="2468880" cy="2651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06640" y="1097280"/>
            <a:ext cx="2468880" cy="2651760"/>
          </a:xfrm>
          <a:prstGeom prst="rect">
            <a:avLst/>
          </a:prstGeom>
          <a:solidFill>
            <a:srgbClr val="1A1A2E"/>
          </a:solidFill>
          <a:ln w="19050">
            <a:solidFill>
              <a:srgbClr val="4EC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06640" y="1097280"/>
            <a:ext cx="2468880" cy="64008"/>
          </a:xfrm>
          <a:prstGeom prst="rect">
            <a:avLst/>
          </a:prstGeom>
          <a:solidFill>
            <a:srgbClr val="4E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12344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CCA3"/>
                </a:solidFill>
                <a:latin typeface="Consolas"/>
              </a:rPr>
              <a:t>Liste de tuples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1645919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6C8A"/>
                </a:solidFill>
                <a:latin typeface="Consolas"/>
              </a:rPr>
              <a:t>Chaque tuple = (nom, lambda)
Stocke les fonctions sans les exécuter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12680" y="1097280"/>
            <a:ext cx="2468880" cy="2651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12680" y="1097280"/>
            <a:ext cx="2468880" cy="2651760"/>
          </a:xfrm>
          <a:prstGeom prst="rect">
            <a:avLst/>
          </a:prstGeom>
          <a:solidFill>
            <a:srgbClr val="1A1A2E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012680" y="1097280"/>
            <a:ext cx="246888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04119" y="12344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  <a:latin typeface="Consolas"/>
              </a:rPr>
              <a:t>Lambda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04119" y="1645919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6C8A"/>
                </a:solidFill>
                <a:latin typeface="Consolas"/>
              </a:rPr>
              <a:t>Fonction anonyme sur 1 ligne
lambda c: c.create_line(...)
c = le canvas passé au moment de l'appel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3977639"/>
            <a:ext cx="2468880" cy="2651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06640" y="3977639"/>
            <a:ext cx="2468880" cy="2651760"/>
          </a:xfrm>
          <a:prstGeom prst="rect">
            <a:avLst/>
          </a:prstGeom>
          <a:solidFill>
            <a:srgbClr val="1A1A2E"/>
          </a:solidFill>
          <a:ln w="1905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3977639"/>
            <a:ext cx="2468880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79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Consolas"/>
              </a:rPr>
              <a:t>Dessin progressif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4526279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6C8A"/>
                </a:solidFill>
                <a:latin typeface="Consolas"/>
              </a:rPr>
              <a:t>À chaque erreur du joueur :
→ essais_restants -=1
→ numero_etape calculé
→ _dessiner_etape() appelée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12680" y="3977639"/>
            <a:ext cx="2468880" cy="2651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12680" y="3977639"/>
            <a:ext cx="2468880" cy="2651760"/>
          </a:xfrm>
          <a:prstGeom prst="rect">
            <a:avLst/>
          </a:prstGeom>
          <a:solidFill>
            <a:srgbClr val="1A1A2E"/>
          </a:solidFill>
          <a:ln w="19050">
            <a:solidFill>
              <a:srgbClr val="6C6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12680" y="3977639"/>
            <a:ext cx="2468880" cy="64008"/>
          </a:xfrm>
          <a:prstGeom prst="rect">
            <a:avLst/>
          </a:prstGeom>
          <a:solidFill>
            <a:srgbClr val="6C6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04119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6C8A"/>
                </a:solidFill>
                <a:latin typeface="Consolas"/>
              </a:rPr>
              <a:t>Tuple unpacking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04119" y="4526279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6C8A"/>
                </a:solidFill>
                <a:latin typeface="Consolas"/>
              </a:rPr>
              <a:t>_nom, fn = ETAPES_DESSIN[i]
Décompacte le tuple en 2 vars.
_nom ignoré (préfixe _ par convention)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onsolas"/>
              </a:rPr>
              <a:t>_proposer() — Traitement d'une lettre</a:t>
            </a:r>
          </a:p>
        </p:txBody>
      </p:sp>
      <p:sp>
        <p:nvSpPr>
          <p:cNvPr id="4" name="Oval 3"/>
          <p:cNvSpPr/>
          <p:nvPr/>
        </p:nvSpPr>
        <p:spPr>
          <a:xfrm>
            <a:off x="274320" y="1188720"/>
            <a:ext cx="502920" cy="502920"/>
          </a:xfrm>
          <a:prstGeom prst="ellipse">
            <a:avLst/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A2A4A"/>
                </a:solidFill>
                <a:latin typeface="Consolas"/>
              </a:rPr>
              <a:t>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EAEA"/>
                </a:solidFill>
                <a:latin typeface="Consolas"/>
              </a:rPr>
              <a:t>Lecture de la saisie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600200"/>
            <a:ext cx="4754880" cy="41148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691640"/>
            <a:ext cx="4480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entry.get().strip().lower()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267712"/>
            <a:ext cx="502920" cy="50292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1635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A2A4A"/>
                </a:solidFill>
                <a:latin typeface="Consolas"/>
              </a:rPr>
              <a:t>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1343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Consolas"/>
              </a:rPr>
              <a:t>Partie terminée 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679192"/>
            <a:ext cx="4754880" cy="41148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770632"/>
            <a:ext cx="4480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if self.partie_finie: return</a:t>
            </a:r>
          </a:p>
        </p:txBody>
      </p:sp>
      <p:sp>
        <p:nvSpPr>
          <p:cNvPr id="14" name="Oval 13"/>
          <p:cNvSpPr/>
          <p:nvPr/>
        </p:nvSpPr>
        <p:spPr>
          <a:xfrm>
            <a:off x="274320" y="3346704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9534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A2A4A"/>
                </a:solidFill>
                <a:latin typeface="Consolas"/>
              </a:rPr>
              <a:t>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9242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  <a:latin typeface="Consolas"/>
              </a:rPr>
              <a:t>Lettre valide 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58184"/>
            <a:ext cx="4754880" cy="41148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849624"/>
            <a:ext cx="4480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len==1 et isalpha()</a:t>
            </a:r>
          </a:p>
        </p:txBody>
      </p:sp>
      <p:sp>
        <p:nvSpPr>
          <p:cNvPr id="19" name="Oval 18"/>
          <p:cNvSpPr/>
          <p:nvPr/>
        </p:nvSpPr>
        <p:spPr>
          <a:xfrm>
            <a:off x="274320" y="4425696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74336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A2A4A"/>
                </a:solidFill>
                <a:latin typeface="Consolas"/>
              </a:rPr>
              <a:t>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47141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  <a:latin typeface="Consolas"/>
              </a:rPr>
              <a:t>Déjà proposée 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4837176"/>
            <a:ext cx="4754880" cy="41148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928616"/>
            <a:ext cx="4480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if lettre in lettres_proposees</a:t>
            </a:r>
          </a:p>
        </p:txBody>
      </p:sp>
      <p:sp>
        <p:nvSpPr>
          <p:cNvPr id="24" name="Oval 23"/>
          <p:cNvSpPr/>
          <p:nvPr/>
        </p:nvSpPr>
        <p:spPr>
          <a:xfrm>
            <a:off x="274320" y="5504688"/>
            <a:ext cx="502920" cy="502920"/>
          </a:xfrm>
          <a:prstGeom prst="ellipse">
            <a:avLst/>
          </a:prstGeom>
          <a:solidFill>
            <a:srgbClr val="4E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550407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CCA3"/>
                </a:solidFill>
                <a:latin typeface="Consolas"/>
              </a:rPr>
              <a:t>Chercher la lettre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5916168"/>
            <a:ext cx="4754880" cy="41148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6007607"/>
            <a:ext cx="4480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chercher_lettre(lettre, self.mot)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188720"/>
            <a:ext cx="5669280" cy="5394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1188720"/>
            <a:ext cx="5669280" cy="539496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AEAEA"/>
                </a:solidFill>
                <a:latin typeface="Consolas"/>
              </a:rPr>
              <a:t>Résultat de chercher_lettre()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1828800"/>
            <a:ext cx="5303520" cy="274320"/>
          </a:xfrm>
          <a:prstGeom prst="rect">
            <a:avLst/>
          </a:prstGeom>
          <a:solidFill>
            <a:srgbClr val="301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184708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4560"/>
                </a:solidFill>
                <a:latin typeface="Consolas"/>
              </a:rPr>
              <a:t>  ✗  Lettre ABSENTE (tuple vide)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2194560"/>
            <a:ext cx="5303520" cy="114300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2286000"/>
            <a:ext cx="50292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essais_restants -= 1</a:t>
            </a:r>
          </a:p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numero = NB_ESSAIS - essais_restants - 1</a:t>
            </a:r>
          </a:p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_dessiner_etape(numero)  # bonhomme +1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3520440"/>
            <a:ext cx="5303520" cy="274320"/>
          </a:xfrm>
          <a:prstGeom prst="rect">
            <a:avLst/>
          </a:prstGeom>
          <a:solidFill>
            <a:srgbClr val="0C2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353872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ECCA3"/>
                </a:solidFill>
                <a:latin typeface="Consolas"/>
              </a:rPr>
              <a:t>  ✓  Lettre TROUVÉE (indices renvoyés)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3886200"/>
            <a:ext cx="5303520" cy="109728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3977639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mot_cache = remplacer_lettre(</a:t>
            </a:r>
          </a:p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    mot_cache, indices, lettre)</a:t>
            </a:r>
          </a:p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# révèle la lettre dans mot_cache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5120640"/>
            <a:ext cx="5303520" cy="274320"/>
          </a:xfrm>
          <a:prstGeom prst="rect">
            <a:avLst/>
          </a:prstGeom>
          <a:solidFill>
            <a:srgbClr val="15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513892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6C8A"/>
                </a:solidFill>
                <a:latin typeface="Consolas"/>
              </a:rPr>
              <a:t>  Dans tous les cas :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5486400"/>
            <a:ext cx="5303520" cy="73152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60" y="55778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_actualiser_affichage()</a:t>
            </a:r>
          </a:p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_verifier_fin()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onsolas"/>
              </a:rPr>
              <a:t>Interface Tkinter &amp; Programmation événementielle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303520" cy="539496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303520" cy="5394960"/>
          </a:xfrm>
          <a:prstGeom prst="rect">
            <a:avLst/>
          </a:prstGeom>
          <a:solidFill>
            <a:srgbClr val="121222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6C8A"/>
                </a:solidFill>
                <a:latin typeface="Consolas"/>
              </a:rPr>
              <a:t>Schéma de l'interface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00200"/>
            <a:ext cx="5029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C6C8A"/>
                </a:solidFill>
                <a:latin typeface="Consolas"/>
              </a:rPr>
              <a:t>┌─────────────────┬──────────┐</a:t>
            </a:r>
          </a:p>
          <a:p>
            <a:r>
              <a:rPr sz="1100">
                <a:solidFill>
                  <a:srgbClr val="6C6C8A"/>
                </a:solidFill>
                <a:latin typeface="Consolas"/>
              </a:rPr>
              <a:t>│  ◈ LE PENDU ◈   │ [Canvas] │</a:t>
            </a:r>
          </a:p>
          <a:p>
            <a:r>
              <a:rPr sz="1100">
                <a:solidFill>
                  <a:srgbClr val="6C6C8A"/>
                </a:solidFill>
                <a:latin typeface="Consolas"/>
              </a:rPr>
              <a:t>│                 │   ┌──┐   │</a:t>
            </a:r>
          </a:p>
          <a:p>
            <a:r>
              <a:rPr sz="1100">
                <a:solidFill>
                  <a:srgbClr val="6C6C8A"/>
                </a:solidFill>
                <a:latin typeface="Consolas"/>
              </a:rPr>
              <a:t>│  p * * h o n    │   │  │   │</a:t>
            </a:r>
          </a:p>
          <a:p>
            <a:r>
              <a:rPr sz="1100">
                <a:solidFill>
                  <a:srgbClr val="6C6C8A"/>
                </a:solidFill>
                <a:latin typeface="Consolas"/>
              </a:rPr>
              <a:t>│                 │   ☻  │   │</a:t>
            </a:r>
          </a:p>
          <a:p>
            <a:r>
              <a:rPr sz="1100">
                <a:solidFill>
                  <a:srgbClr val="6C6C8A"/>
                </a:solidFill>
                <a:latin typeface="Consolas"/>
              </a:rPr>
              <a:t>│  [___] VALIDER  │  /│\ │   │</a:t>
            </a:r>
          </a:p>
          <a:p>
            <a:r>
              <a:rPr sz="1100">
                <a:solidFill>
                  <a:srgbClr val="6C6C8A"/>
                </a:solidFill>
                <a:latin typeface="Consolas"/>
              </a:rPr>
              <a:t>│                 │  / \ │   │</a:t>
            </a:r>
          </a:p>
          <a:p>
            <a:r>
              <a:rPr sz="1100">
                <a:solidFill>
                  <a:srgbClr val="6C6C8A"/>
                </a:solidFill>
                <a:latin typeface="Consolas"/>
              </a:rPr>
              <a:t>│  Proposées: A B │          │</a:t>
            </a:r>
          </a:p>
          <a:p>
            <a:r>
              <a:rPr sz="1100">
                <a:solidFill>
                  <a:srgbClr val="6C6C8A"/>
                </a:solidFill>
                <a:latin typeface="Consolas"/>
              </a:rPr>
              <a:t>│                 │ [NOUV.   │</a:t>
            </a:r>
          </a:p>
          <a:p>
            <a:r>
              <a:rPr sz="1100">
                <a:solidFill>
                  <a:srgbClr val="6C6C8A"/>
                </a:solidFill>
                <a:latin typeface="Consolas"/>
              </a:rPr>
              <a:t>│  Essais: 7/10   │  PARTIE] │</a:t>
            </a:r>
          </a:p>
          <a:p>
            <a:r>
              <a:rPr sz="1100">
                <a:solidFill>
                  <a:srgbClr val="6C6C8A"/>
                </a:solidFill>
                <a:latin typeface="Consolas"/>
              </a:rPr>
              <a:t>└─────────────────┴──────────┘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097280"/>
            <a:ext cx="5943600" cy="1645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  <a:latin typeface="Consolas"/>
              </a:rPr>
              <a:t>StringVar — Mise à jour automatique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600200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6C8A"/>
                </a:solidFill>
                <a:latin typeface="Consolas"/>
              </a:rPr>
              <a:t>self.var_mot.set('p  *  *  h  o  n')
→ Le Label se met à jour AUTOMATIQUEMENT
Plus besoin de modifier le widget manuellement 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2926080"/>
            <a:ext cx="5943600" cy="3200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2971800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EAEA"/>
                </a:solidFill>
                <a:latin typeface="Consolas"/>
              </a:rPr>
              <a:t>  Événement            →  Méthode appelée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3291840"/>
            <a:ext cx="594360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335584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EAEA"/>
                </a:solidFill>
                <a:latin typeface="Consolas"/>
              </a:rPr>
              <a:t>Clic sur VALIDER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335584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ECCA3"/>
                </a:solidFill>
                <a:latin typeface="Consolas"/>
              </a:rPr>
              <a:t>_proposer()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3767328"/>
            <a:ext cx="5943600" cy="45720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83133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EAEA"/>
                </a:solidFill>
                <a:latin typeface="Consolas"/>
              </a:rPr>
              <a:t>Touche Entrée [↵]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383133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ECCA3"/>
                </a:solidFill>
                <a:latin typeface="Consolas"/>
              </a:rPr>
              <a:t>_proposer()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4242816"/>
            <a:ext cx="594360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430682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EAEA"/>
                </a:solidFill>
                <a:latin typeface="Consolas"/>
              </a:rPr>
              <a:t>Clic NOUVELLE PARTIE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430682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ECCA3"/>
                </a:solidFill>
                <a:latin typeface="Consolas"/>
              </a:rPr>
              <a:t>_nouvelle_partie()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4718304"/>
            <a:ext cx="5943600" cy="45720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47823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EAEA"/>
                </a:solidFill>
                <a:latin typeface="Consolas"/>
              </a:rPr>
              <a:t>Fermeture fenêtre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478231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ECCA3"/>
                </a:solidFill>
                <a:latin typeface="Consolas"/>
              </a:rPr>
              <a:t>arrêt mainloop()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5303520"/>
            <a:ext cx="5943600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5394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CCA3"/>
                </a:solidFill>
                <a:latin typeface="Consolas"/>
              </a:rPr>
              <a:t>mainloop() — La boucle événementielle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580644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6C8A"/>
                </a:solidFill>
                <a:latin typeface="Consolas"/>
              </a:rPr>
              <a:t>Lance la boucle infinie qui attend les événements
(clics, touches...). S'arrête à la fermeture de la fenêtre.
Sans elle, la fenêtre s'ouvrirait et se fermerait aussitôt.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onsolas"/>
              </a:rPr>
              <a:t>Concepts Python utilisés dans ce projet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3657600" cy="2468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3657600" cy="2468880"/>
          </a:xfrm>
          <a:prstGeom prst="rect">
            <a:avLst/>
          </a:prstGeom>
          <a:solidFill>
            <a:srgbClr val="1A1A2E"/>
          </a:solidFill>
          <a:ln w="19050">
            <a:solidFill>
              <a:srgbClr val="4EC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3657600" cy="64008"/>
          </a:xfrm>
          <a:prstGeom prst="rect">
            <a:avLst/>
          </a:prstGeom>
          <a:solidFill>
            <a:srgbClr val="4E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32588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ECCA3"/>
                </a:solidFill>
                <a:latin typeface="Consolas"/>
              </a:rPr>
              <a:t>f-strings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37360"/>
            <a:ext cx="347472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f"{essais} / {total}"</a:t>
            </a:r>
          </a:p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→ "7 / 10"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651760"/>
            <a:ext cx="3429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6C8A"/>
                </a:solidFill>
                <a:latin typeface="Consolas"/>
              </a:rPr>
              <a:t>Chaînes formatées
avec expressions dans { 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188720"/>
            <a:ext cx="3657600" cy="2468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188720"/>
            <a:ext cx="3657600" cy="2468880"/>
          </a:xfrm>
          <a:prstGeom prst="rect">
            <a:avLst/>
          </a:prstGeom>
          <a:solidFill>
            <a:srgbClr val="1A1A2E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1188720"/>
            <a:ext cx="365760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15968" y="132588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  <a:latin typeface="Consolas"/>
              </a:rPr>
              <a:t>Opérateur * sur str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79" y="1737360"/>
            <a:ext cx="347472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82880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"█" * 7  →  "███████"</a:t>
            </a:r>
          </a:p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"░" * 3  →  "░░░"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2651760"/>
            <a:ext cx="3429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6C8A"/>
                </a:solidFill>
                <a:latin typeface="Consolas"/>
              </a:rPr>
              <a:t>Répète une chaîne
N fois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188720"/>
            <a:ext cx="3657600" cy="2468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188720"/>
            <a:ext cx="3657600" cy="2468880"/>
          </a:xfrm>
          <a:prstGeom prst="rect">
            <a:avLst/>
          </a:prstGeom>
          <a:solidFill>
            <a:srgbClr val="1A1A2E"/>
          </a:solidFill>
          <a:ln w="1905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188720"/>
            <a:ext cx="3657600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8" y="132588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4560"/>
                </a:solidFill>
                <a:latin typeface="Consolas"/>
              </a:rPr>
              <a:t>.join()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737360"/>
            <a:ext cx="347472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182880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"  ".join(["p","*","n"])</a:t>
            </a:r>
          </a:p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→ "p  *  n"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2651760"/>
            <a:ext cx="3429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6C8A"/>
                </a:solidFill>
                <a:latin typeface="Consolas"/>
              </a:rPr>
              <a:t>Assemble une liste
en chaîne avec séparateur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886200"/>
            <a:ext cx="3657600" cy="2468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3886200"/>
            <a:ext cx="3657600" cy="2468880"/>
          </a:xfrm>
          <a:prstGeom prst="rect">
            <a:avLst/>
          </a:prstGeom>
          <a:solidFill>
            <a:srgbClr val="1A1A2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3886200"/>
            <a:ext cx="365760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402336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Consolas"/>
              </a:rPr>
              <a:t>assert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434840"/>
            <a:ext cx="347472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526279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assert type(mot) == str</a:t>
            </a:r>
          </a:p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# AssertionError si faux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" y="5349240"/>
            <a:ext cx="3429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6C8A"/>
                </a:solidFill>
                <a:latin typeface="Consolas"/>
              </a:rPr>
              <a:t>Vérifie une condition
au moment de l'exécution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06240" y="3886200"/>
            <a:ext cx="3657600" cy="2468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06240" y="3886200"/>
            <a:ext cx="3657600" cy="2468880"/>
          </a:xfrm>
          <a:prstGeom prst="rect">
            <a:avLst/>
          </a:prstGeom>
          <a:solidFill>
            <a:srgbClr val="1A1A2E"/>
          </a:solidFill>
          <a:ln w="19050">
            <a:solidFill>
              <a:srgbClr val="06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06240" y="3886200"/>
            <a:ext cx="3657600" cy="64008"/>
          </a:xfrm>
          <a:prstGeom prst="rect">
            <a:avLst/>
          </a:prstGeom>
          <a:solidFill>
            <a:srgbClr val="06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5968" y="402336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8FFF"/>
                </a:solidFill>
                <a:latin typeface="Consolas"/>
              </a:rPr>
              <a:t>in / not 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79" y="4434840"/>
            <a:ext cx="347472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34840" y="4526279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lettre in liste</a:t>
            </a:r>
          </a:p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"*" not in mot_cache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15968" y="5349240"/>
            <a:ext cx="3429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6C8A"/>
                </a:solidFill>
                <a:latin typeface="Consolas"/>
              </a:rPr>
              <a:t>Teste la présence
d'un élément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38160" y="3886200"/>
            <a:ext cx="3657600" cy="2468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38160" y="3886200"/>
            <a:ext cx="3657600" cy="2468880"/>
          </a:xfrm>
          <a:prstGeom prst="rect">
            <a:avLst/>
          </a:prstGeom>
          <a:solidFill>
            <a:srgbClr val="1A1A2E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38160" y="3886200"/>
            <a:ext cx="3657600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47888" y="402336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  <a:latin typeface="Consolas"/>
              </a:rPr>
              <a:t>Tuple unpacking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0" y="4434840"/>
            <a:ext cx="347472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66760" y="4526279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_nom, fn = tuple_etape</a:t>
            </a:r>
          </a:p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# deux vars en une ligne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47888" y="5349240"/>
            <a:ext cx="3429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6C8A"/>
                </a:solidFill>
                <a:latin typeface="Consolas"/>
              </a:rPr>
              <a:t>Décompacte un tuple
en plusieurs variables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onsolas"/>
              </a:rPr>
              <a:t>Déroulement d'une partie — Pas à pas</a:t>
            </a:r>
          </a:p>
        </p:txBody>
      </p:sp>
      <p:sp>
        <p:nvSpPr>
          <p:cNvPr id="4" name="Oval 3"/>
          <p:cNvSpPr/>
          <p:nvPr/>
        </p:nvSpPr>
        <p:spPr>
          <a:xfrm>
            <a:off x="274320" y="1261872"/>
            <a:ext cx="347472" cy="347472"/>
          </a:xfrm>
          <a:prstGeom prst="ellipse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2336" y="162763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A2A4A"/>
                </a:solidFill>
                <a:latin typeface="Consolas"/>
              </a:rPr>
              <a:t>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2185415" cy="3200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Création de la fenêtre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24358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EAEA"/>
                </a:solidFill>
                <a:latin typeface="Consolas"/>
              </a:rPr>
              <a:t>app = PenduApp()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207008"/>
            <a:ext cx="2560320" cy="41148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80760" y="129844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__init__ + _build_ui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24358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6C8A"/>
                </a:solidFill>
                <a:latin typeface="Consolas"/>
              </a:rPr>
              <a:t>Tous les widgets sont créés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194560"/>
            <a:ext cx="347472" cy="347472"/>
          </a:xfrm>
          <a:prstGeom prst="ellipse">
            <a:avLst/>
          </a:prstGeom>
          <a:solidFill>
            <a:srgbClr val="4E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" y="2560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A2A4A"/>
                </a:solidFill>
                <a:latin typeface="Consolas"/>
              </a:rPr>
              <a:t>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12848"/>
            <a:ext cx="1490472" cy="320040"/>
          </a:xfrm>
          <a:prstGeom prst="rect">
            <a:avLst/>
          </a:prstGeom>
          <a:solidFill>
            <a:srgbClr val="4E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Initialisation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1762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EAEA"/>
                </a:solidFill>
                <a:latin typeface="Consolas"/>
              </a:rPr>
              <a:t>_nouvelle_partie()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2139696"/>
            <a:ext cx="2560320" cy="41148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2231136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choix_mot + cacher_mot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17627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6C8A"/>
                </a:solidFill>
                <a:latin typeface="Consolas"/>
              </a:rPr>
              <a:t>mot='python', cache=['*','*',...]</a:t>
            </a:r>
          </a:p>
        </p:txBody>
      </p:sp>
      <p:sp>
        <p:nvSpPr>
          <p:cNvPr id="18" name="Oval 17"/>
          <p:cNvSpPr/>
          <p:nvPr/>
        </p:nvSpPr>
        <p:spPr>
          <a:xfrm>
            <a:off x="274320" y="3127248"/>
            <a:ext cx="347472" cy="347472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" y="349300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A2A4A"/>
                </a:solidFill>
                <a:latin typeface="Consolas"/>
              </a:rPr>
              <a:t>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145536"/>
            <a:ext cx="1664208" cy="3200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Saisie de lettre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3108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EAEA"/>
                </a:solidFill>
                <a:latin typeface="Consolas"/>
              </a:rPr>
              <a:t>Joueur tape 'p' + Entrée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3072384"/>
            <a:ext cx="2560320" cy="41148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3163824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_proposer()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31089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6C8A"/>
                </a:solidFill>
                <a:latin typeface="Consolas"/>
              </a:rPr>
              <a:t>Validation + chercher_lettre</a:t>
            </a:r>
          </a:p>
        </p:txBody>
      </p:sp>
      <p:sp>
        <p:nvSpPr>
          <p:cNvPr id="25" name="Oval 24"/>
          <p:cNvSpPr/>
          <p:nvPr/>
        </p:nvSpPr>
        <p:spPr>
          <a:xfrm>
            <a:off x="274320" y="4059936"/>
            <a:ext cx="347472" cy="347472"/>
          </a:xfrm>
          <a:prstGeom prst="ellipse">
            <a:avLst/>
          </a:prstGeom>
          <a:solidFill>
            <a:srgbClr val="4E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2336" y="4425696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A2A4A"/>
                </a:solidFill>
                <a:latin typeface="Consolas"/>
              </a:rPr>
              <a:t>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078224"/>
            <a:ext cx="1403604" cy="320040"/>
          </a:xfrm>
          <a:prstGeom prst="rect">
            <a:avLst/>
          </a:prstGeom>
          <a:solidFill>
            <a:srgbClr val="4E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Bonne réponse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40416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EAEA"/>
                </a:solidFill>
                <a:latin typeface="Consolas"/>
              </a:rPr>
              <a:t>Lettre trouvée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4005072"/>
            <a:ext cx="2560320" cy="41148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4096511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remplacer_lettre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404164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6C8A"/>
                </a:solidFill>
                <a:latin typeface="Consolas"/>
              </a:rPr>
              <a:t>cache=['p','*','*','*','*','n']</a:t>
            </a:r>
          </a:p>
        </p:txBody>
      </p:sp>
      <p:sp>
        <p:nvSpPr>
          <p:cNvPr id="32" name="Oval 31"/>
          <p:cNvSpPr/>
          <p:nvPr/>
        </p:nvSpPr>
        <p:spPr>
          <a:xfrm>
            <a:off x="274320" y="4992624"/>
            <a:ext cx="347472" cy="347472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2336" y="5358383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A2A4A"/>
                </a:solidFill>
                <a:latin typeface="Consolas"/>
              </a:rPr>
              <a:t>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5010912"/>
            <a:ext cx="1664208" cy="3200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Mauvaise réponse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60320" y="497433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EAEA"/>
                </a:solidFill>
                <a:latin typeface="Consolas"/>
              </a:rPr>
              <a:t>Lettre absente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4937759"/>
            <a:ext cx="2560320" cy="41148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0760" y="5029199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_dessiner_etape()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497433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6C8A"/>
                </a:solidFill>
                <a:latin typeface="Consolas"/>
              </a:rPr>
              <a:t>Une partie du bonhomme ajoutée</a:t>
            </a:r>
          </a:p>
        </p:txBody>
      </p:sp>
      <p:sp>
        <p:nvSpPr>
          <p:cNvPr id="39" name="Oval 38"/>
          <p:cNvSpPr/>
          <p:nvPr/>
        </p:nvSpPr>
        <p:spPr>
          <a:xfrm>
            <a:off x="274320" y="5925312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" y="5943599"/>
            <a:ext cx="1316736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Vérification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60320" y="5907023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EAEA"/>
                </a:solidFill>
                <a:latin typeface="Consolas"/>
              </a:rPr>
              <a:t>_verifier_fin()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0" y="5870447"/>
            <a:ext cx="2560320" cy="41148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80760" y="5961887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4ECCA3"/>
                </a:solidFill>
                <a:latin typeface="Consolas"/>
              </a:rPr>
              <a:t>'*' not in cache?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5907023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6C8A"/>
                </a:solidFill>
                <a:latin typeface="Consolas"/>
              </a:rPr>
              <a:t>Victoire ou défaite 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94560"/>
                </a:solidFill>
                <a:latin typeface="Consolas"/>
              </a:rPr>
              <a:t>Récapitulatif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303520" cy="1554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5303520" cy="1554480"/>
          </a:xfrm>
          <a:prstGeom prst="rect">
            <a:avLst/>
          </a:prstGeom>
          <a:solidFill>
            <a:srgbClr val="1A1A2E"/>
          </a:solidFill>
          <a:ln w="25400">
            <a:solidFill>
              <a:srgbClr val="4EC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73152" cy="1554480"/>
          </a:xfrm>
          <a:prstGeom prst="rect">
            <a:avLst/>
          </a:prstGeom>
          <a:solidFill>
            <a:srgbClr val="4E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25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ECCA3"/>
                </a:solidFill>
                <a:latin typeface="Consolas"/>
              </a:rPr>
              <a:t>functions.py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6C8A"/>
                </a:solidFill>
                <a:latin typeface="Consolas"/>
              </a:rPr>
              <a:t>4 fonctions pures — aucune dépendance à Tkinter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188720"/>
            <a:ext cx="5303520" cy="1554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1188720"/>
            <a:ext cx="5303520" cy="1554480"/>
          </a:xfrm>
          <a:prstGeom prst="rect">
            <a:avLst/>
          </a:prstGeom>
          <a:solidFill>
            <a:srgbClr val="1A1A2E"/>
          </a:solidFill>
          <a:ln w="254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0" y="1188720"/>
            <a:ext cx="73152" cy="15544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325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94560"/>
                </a:solidFill>
                <a:latin typeface="Consolas"/>
              </a:rPr>
              <a:t>main.py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78308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6C8A"/>
                </a:solidFill>
                <a:latin typeface="Consolas"/>
              </a:rPr>
              <a:t>Classe PenduApp héritant de tk.Tk — 7 méthodes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971800"/>
            <a:ext cx="5303520" cy="1554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971800"/>
            <a:ext cx="5303520" cy="1554480"/>
          </a:xfrm>
          <a:prstGeom prst="rect">
            <a:avLst/>
          </a:prstGeom>
          <a:solidFill>
            <a:srgbClr val="1A1A2E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2971800"/>
            <a:ext cx="73152" cy="1554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1089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  <a:latin typeface="Consolas"/>
              </a:rPr>
              <a:t>ETAPES_DESSIN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5661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6C8A"/>
                </a:solidFill>
                <a:latin typeface="Consolas"/>
              </a:rPr>
              <a:t>Liste de 10 lambdas — dessin progressif du pendu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2971800"/>
            <a:ext cx="5303520" cy="1554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2971800"/>
            <a:ext cx="5303520" cy="1554480"/>
          </a:xfrm>
          <a:prstGeom prst="rect">
            <a:avLst/>
          </a:prstGeom>
          <a:solidFill>
            <a:srgbClr val="1A1A2E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0" y="2971800"/>
            <a:ext cx="73152" cy="1554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31089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  <a:latin typeface="Consolas"/>
              </a:rPr>
              <a:t>StringVar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5661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6C8A"/>
                </a:solidFill>
                <a:latin typeface="Consolas"/>
              </a:rPr>
              <a:t>Variables observables — mise à jour automatique des Labels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754880"/>
            <a:ext cx="5303520" cy="1554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4754880"/>
            <a:ext cx="5303520" cy="1554480"/>
          </a:xfrm>
          <a:prstGeom prst="rect">
            <a:avLst/>
          </a:prstGeom>
          <a:solidFill>
            <a:srgbClr val="1A1A2E"/>
          </a:solidFill>
          <a:ln w="25400">
            <a:solidFill>
              <a:srgbClr val="06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4754880"/>
            <a:ext cx="73152" cy="1554480"/>
          </a:xfrm>
          <a:prstGeom prst="rect">
            <a:avLst/>
          </a:prstGeom>
          <a:solidFill>
            <a:srgbClr val="06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892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8FFF"/>
                </a:solidFill>
                <a:latin typeface="Consolas"/>
              </a:rPr>
              <a:t>Événements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6C8A"/>
                </a:solidFill>
                <a:latin typeface="Consolas"/>
              </a:rPr>
              <a:t>mainloop() + command= + bind() — prog. événementielle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4754880"/>
            <a:ext cx="5303520" cy="1554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0" y="4754880"/>
            <a:ext cx="5303520" cy="1554480"/>
          </a:xfrm>
          <a:prstGeom prst="rect">
            <a:avLst/>
          </a:prstGeom>
          <a:solidFill>
            <a:srgbClr val="1A1A2E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0" y="4754880"/>
            <a:ext cx="73152" cy="1554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0" y="4892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Consolas"/>
              </a:rPr>
              <a:t>Concepts Python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53492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6C8A"/>
                </a:solidFill>
                <a:latin typeface="Consolas"/>
              </a:rPr>
              <a:t>f-strings, join, *, tuple unpacking, assert, in/not 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